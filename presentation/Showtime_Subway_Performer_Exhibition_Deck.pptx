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0c16c000994490" /><Relationship Type="http://schemas.openxmlformats.org/officeDocument/2006/relationships/extended-properties" Target="/docProps/app.xml" Id="R4ba1cffa05704bc2" /><Relationship Type="http://schemas.openxmlformats.org/officeDocument/2006/relationships/officeDocument" Target="/ppt/presentation.xml" Id="Rc51e96476dfa40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f3c63a255843e6"/>
  </p:sldMasterIdLst>
  <p:notesMasterIdLst>
    <p:notesMasterId xmlns:r="http://schemas.openxmlformats.org/officeDocument/2006/relationships" r:id="R263283aec295425c"/>
  </p:notesMasterIdLst>
  <p:sldIdLst>
    <p:sldId xmlns:r="http://schemas.openxmlformats.org/officeDocument/2006/relationships" id="256" r:id="R6fd1864034ec4950"/>
    <p:sldId xmlns:r="http://schemas.openxmlformats.org/officeDocument/2006/relationships" id="257" r:id="R83ef8a8498244153"/>
    <p:sldId xmlns:r="http://schemas.openxmlformats.org/officeDocument/2006/relationships" id="258" r:id="R1510f7ed3ae7416e"/>
    <p:sldId xmlns:r="http://schemas.openxmlformats.org/officeDocument/2006/relationships" id="259" r:id="R2949690992df464d"/>
    <p:sldId xmlns:r="http://schemas.openxmlformats.org/officeDocument/2006/relationships" id="260" r:id="R21eba388761c424c"/>
    <p:sldId xmlns:r="http://schemas.openxmlformats.org/officeDocument/2006/relationships" id="261" r:id="Rccea90399faa459a"/>
    <p:sldId xmlns:r="http://schemas.openxmlformats.org/officeDocument/2006/relationships" id="262" r:id="R0af4511f769e4d5e"/>
    <p:sldId xmlns:r="http://schemas.openxmlformats.org/officeDocument/2006/relationships" id="263" r:id="Rc6b7c0f35ae347d1"/>
    <p:sldId xmlns:r="http://schemas.openxmlformats.org/officeDocument/2006/relationships" id="264" r:id="R1f502318efe84b52"/>
    <p:sldId xmlns:r="http://schemas.openxmlformats.org/officeDocument/2006/relationships" id="265" r:id="R6ca0486597e7417c"/>
    <p:sldId xmlns:r="http://schemas.openxmlformats.org/officeDocument/2006/relationships" id="266" r:id="R39b2b3cff91949cd"/>
    <p:sldId xmlns:r="http://schemas.openxmlformats.org/officeDocument/2006/relationships" id="267" r:id="R1de1c40332ed4d84"/>
    <p:sldId xmlns:r="http://schemas.openxmlformats.org/officeDocument/2006/relationships" id="268" r:id="R0393e52b04fa4902"/>
    <p:sldId xmlns:r="http://schemas.openxmlformats.org/officeDocument/2006/relationships" id="269" r:id="R6f5b00292b7e4e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6ed143b280420b" /><Relationship Type="http://schemas.openxmlformats.org/officeDocument/2006/relationships/slideMaster" Target="/ppt/slideMasters/slideMaster1.xml" Id="R92f3c63a255843e6" /><Relationship Type="http://schemas.openxmlformats.org/officeDocument/2006/relationships/notesMaster" Target="/ppt/notesMasters/notesMaster1.xml" Id="R263283aec295425c" /><Relationship Type="http://schemas.openxmlformats.org/officeDocument/2006/relationships/presProps" Target="/ppt/presProps.xml" Id="Rfae2cbfce30744fc" /><Relationship Type="http://schemas.openxmlformats.org/officeDocument/2006/relationships/tableStyles" Target="/ppt/tableStyles.xml" Id="R62f8f212eec64259" /><Relationship Type="http://schemas.openxmlformats.org/officeDocument/2006/relationships/slide" Target="/ppt/slides/slide1.xml" Id="R6fd1864034ec4950" /><Relationship Type="http://schemas.openxmlformats.org/officeDocument/2006/relationships/slide" Target="/ppt/slides/slide2.xml" Id="R83ef8a8498244153" /><Relationship Type="http://schemas.openxmlformats.org/officeDocument/2006/relationships/slide" Target="/ppt/slides/slide3.xml" Id="R1510f7ed3ae7416e" /><Relationship Type="http://schemas.openxmlformats.org/officeDocument/2006/relationships/slide" Target="/ppt/slides/slide4.xml" Id="R2949690992df464d" /><Relationship Type="http://schemas.openxmlformats.org/officeDocument/2006/relationships/slide" Target="/ppt/slides/slide5.xml" Id="R21eba388761c424c" /><Relationship Type="http://schemas.openxmlformats.org/officeDocument/2006/relationships/slide" Target="/ppt/slides/slide6.xml" Id="Rccea90399faa459a" /><Relationship Type="http://schemas.openxmlformats.org/officeDocument/2006/relationships/slide" Target="/ppt/slides/slide7.xml" Id="R0af4511f769e4d5e" /><Relationship Type="http://schemas.openxmlformats.org/officeDocument/2006/relationships/slide" Target="/ppt/slides/slide8.xml" Id="Rc6b7c0f35ae347d1" /><Relationship Type="http://schemas.openxmlformats.org/officeDocument/2006/relationships/slide" Target="/ppt/slides/slide9.xml" Id="R1f502318efe84b52" /><Relationship Type="http://schemas.openxmlformats.org/officeDocument/2006/relationships/slide" Target="/ppt/slides/slide10.xml" Id="R6ca0486597e7417c" /><Relationship Type="http://schemas.openxmlformats.org/officeDocument/2006/relationships/slide" Target="/ppt/slides/slide11.xml" Id="R39b2b3cff91949cd" /><Relationship Type="http://schemas.openxmlformats.org/officeDocument/2006/relationships/slide" Target="/ppt/slides/slide12.xml" Id="R1de1c40332ed4d84" /><Relationship Type="http://schemas.openxmlformats.org/officeDocument/2006/relationships/slide" Target="/ppt/slides/slide13.xml" Id="R0393e52b04fa4902" /><Relationship Type="http://schemas.openxmlformats.org/officeDocument/2006/relationships/slide" Target="/ppt/slides/slide14.xml" Id="R6f5b00292b7e4e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3bffc321d49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648e472424dbc" /><Relationship Type="http://schemas.openxmlformats.org/officeDocument/2006/relationships/notesMaster" Target="/ppt/notesMasters/notesMaster1.xml" Id="R3fd96df0acc449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c57f318d184c17" /><Relationship Type="http://schemas.openxmlformats.org/officeDocument/2006/relationships/notesMaster" Target="/ppt/notesMasters/notesMaster1.xml" Id="Ra40278a00f89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e2a973daa640c5" /><Relationship Type="http://schemas.openxmlformats.org/officeDocument/2006/relationships/notesMaster" Target="/ppt/notesMasters/notesMaster1.xml" Id="R97aa194e50274b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ef1cbb8d954622" /><Relationship Type="http://schemas.openxmlformats.org/officeDocument/2006/relationships/notesMaster" Target="/ppt/notesMasters/notesMaster1.xml" Id="R2247b074606546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78bc68492a4408" /><Relationship Type="http://schemas.openxmlformats.org/officeDocument/2006/relationships/notesMaster" Target="/ppt/notesMasters/notesMaster1.xml" Id="Rb42e7631116f4d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5cdc2f00dc46b1" /><Relationship Type="http://schemas.openxmlformats.org/officeDocument/2006/relationships/notesMaster" Target="/ppt/notesMasters/notesMaster1.xml" Id="Rb48a185835d641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ff8d0262664a9c" /><Relationship Type="http://schemas.openxmlformats.org/officeDocument/2006/relationships/notesMaster" Target="/ppt/notesMasters/notesMaster1.xml" Id="Rd909a94ad34140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a86e94823e4f0d" /><Relationship Type="http://schemas.openxmlformats.org/officeDocument/2006/relationships/notesMaster" Target="/ppt/notesMasters/notesMaster1.xml" Id="Rd01eba5bb0bf40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549488657457d" /><Relationship Type="http://schemas.openxmlformats.org/officeDocument/2006/relationships/notesMaster" Target="/ppt/notesMasters/notesMaster1.xml" Id="Rc0f43fd7025244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8480381f6947cc" /><Relationship Type="http://schemas.openxmlformats.org/officeDocument/2006/relationships/notesMaster" Target="/ppt/notesMasters/notesMaster1.xml" Id="R0a1af54ed9a145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144a84052d45f5" /><Relationship Type="http://schemas.openxmlformats.org/officeDocument/2006/relationships/notesMaster" Target="/ppt/notesMasters/notesMaster1.xml" Id="Rea32e766bd0543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8f5cfbe8934944" /><Relationship Type="http://schemas.openxmlformats.org/officeDocument/2006/relationships/notesMaster" Target="/ppt/notesMasters/notesMaster1.xml" Id="R91bb453bfe5d4c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5495867cb4464e" /><Relationship Type="http://schemas.openxmlformats.org/officeDocument/2006/relationships/notesMaster" Target="/ppt/notesMasters/notesMaster1.xml" Id="R08516942d3b541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2154fa87eb47f7" /><Relationship Type="http://schemas.openxmlformats.org/officeDocument/2006/relationships/notesMaster" Target="/ppt/notesMasters/notesMaster1.xml" Id="R7b6ca3beaaf44f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d135aac00432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bdd51b24b40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3bc7817c543c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0886dce1b4c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0458aaea1444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3774abd5504b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82C174-A09B-4FA2-B7DC-F84F9BAB7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34188C-D819-4399-8A3F-EA84FFA29E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71CB67-71DC-4DF6-BAF4-2D71EA1A5F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A05A84-0C69-4F79-95B8-165018490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8FBE17-9FC4-4EAF-BA9E-4DD6852C17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3BAB9E-2F6B-4A8A-A714-4967C179D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A6C101-DA09-472A-B7A6-B822E5DD6C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60E54C-7652-44EE-9A60-72F28FE618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1C3152-8200-4494-9565-572068E6E2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1B6658-61EC-465B-A4B3-77A2263044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acfb2ecc6c4166" /><Relationship Type="http://schemas.openxmlformats.org/officeDocument/2006/relationships/slideLayout" Target="/ppt/slideLayouts/slideLayout1.xml" Id="R34506b0dee6148fc" /><Relationship Type="http://schemas.openxmlformats.org/officeDocument/2006/relationships/slideLayout" Target="/ppt/slideLayouts/slideLayout2.xml" Id="Rd751b856722b4585" /><Relationship Type="http://schemas.openxmlformats.org/officeDocument/2006/relationships/slideLayout" Target="/ppt/slideLayouts/slideLayout3.xml" Id="Rd022575754394c6a" /><Relationship Type="http://schemas.openxmlformats.org/officeDocument/2006/relationships/slideLayout" Target="/ppt/slideLayouts/slideLayout4.xml" Id="R37b83b54b8ae4311" /><Relationship Type="http://schemas.openxmlformats.org/officeDocument/2006/relationships/slideLayout" Target="/ppt/slideLayouts/slideLayout5.xml" Id="R95e1f3fd6d694be1" /><Relationship Type="http://schemas.openxmlformats.org/officeDocument/2006/relationships/slideLayout" Target="/ppt/slideLayouts/slideLayout6.xml" Id="Rf4cdb572e7f34b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506b0dee6148fc"/>
    <p:sldLayoutId xmlns:r="http://schemas.openxmlformats.org/officeDocument/2006/relationships" id="2147483650" r:id="Rd751b856722b4585"/>
    <p:sldLayoutId xmlns:r="http://schemas.openxmlformats.org/officeDocument/2006/relationships" id="2147483651" r:id="Rd022575754394c6a"/>
    <p:sldLayoutId xmlns:r="http://schemas.openxmlformats.org/officeDocument/2006/relationships" id="2147483652" r:id="R37b83b54b8ae4311"/>
    <p:sldLayoutId xmlns:r="http://schemas.openxmlformats.org/officeDocument/2006/relationships" id="2147483653" r:id="R95e1f3fd6d694be1"/>
    <p:sldLayoutId xmlns:r="http://schemas.openxmlformats.org/officeDocument/2006/relationships" id="2147483654" r:id="Rf4cdb572e7f34b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bed69963b40d6" /><Relationship Type="http://schemas.openxmlformats.org/officeDocument/2006/relationships/image" Target="/ppt/media/image.jpeg" Id="R8525aaa629f442cd" /><Relationship Type="http://schemas.openxmlformats.org/officeDocument/2006/relationships/notesSlide" Target="/ppt/notesSlides/notesSlide1.xml" Id="R46b9e13f383c43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e2ba464a44445" /><Relationship Type="http://schemas.openxmlformats.org/officeDocument/2006/relationships/image" Target="/ppt/media/image2.jpeg" Id="R158da32977794e63" /><Relationship Type="http://schemas.openxmlformats.org/officeDocument/2006/relationships/notesSlide" Target="/ppt/notesSlides/notesSlide2.xml" Id="Rce41da87e6fa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50be982fc4f93" /><Relationship Type="http://schemas.openxmlformats.org/officeDocument/2006/relationships/image" Target="/ppt/media/image3.jpeg" Id="R4f395204adba4851" /><Relationship Type="http://schemas.openxmlformats.org/officeDocument/2006/relationships/image" Target="/ppt/media/image4.jpeg" Id="R3cf4a0a16ef3415d" /><Relationship Type="http://schemas.openxmlformats.org/officeDocument/2006/relationships/notesSlide" Target="/ppt/notesSlides/notesSlide3.xml" Id="R86a0603fbdc64c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965ef1f784dc6" /><Relationship Type="http://schemas.openxmlformats.org/officeDocument/2006/relationships/notesSlide" Target="/ppt/notesSlides/notesSlide4.xml" Id="R6375a9feacbe47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79ecd70b04086" /><Relationship Type="http://schemas.openxmlformats.org/officeDocument/2006/relationships/notesSlide" Target="/ppt/notesSlides/notesSlide5.xml" Id="R12ed6b8928e745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1efc690c5c40f9" /><Relationship Type="http://schemas.openxmlformats.org/officeDocument/2006/relationships/image" Target="/ppt/media/image5.jpeg" Id="R6c85352ea19f4318" /><Relationship Type="http://schemas.openxmlformats.org/officeDocument/2006/relationships/notesSlide" Target="/ppt/notesSlides/notesSlide6.xml" Id="Rc65bc26d8ed14c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373aabc2b44215" /><Relationship Type="http://schemas.openxmlformats.org/officeDocument/2006/relationships/image" Target="/ppt/media/image6.jpeg" Id="R56753aba99c641a8" /><Relationship Type="http://schemas.openxmlformats.org/officeDocument/2006/relationships/notesSlide" Target="/ppt/notesSlides/notesSlide7.xml" Id="Rd2b21629481d48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8c5e1222b4159" /><Relationship Type="http://schemas.openxmlformats.org/officeDocument/2006/relationships/image" Target="/ppt/media/image7.jpeg" Id="Rfa8ee30914f64d9e" /><Relationship Type="http://schemas.openxmlformats.org/officeDocument/2006/relationships/notesSlide" Target="/ppt/notesSlides/notesSlide8.xml" Id="R82071152603844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cbed3aebb4285" /><Relationship Type="http://schemas.openxmlformats.org/officeDocument/2006/relationships/image" Target="/ppt/media/image.png" Id="R334855e7a29b4614" /><Relationship Type="http://schemas.openxmlformats.org/officeDocument/2006/relationships/notesSlide" Target="/ppt/notesSlides/notesSlide9.xml" Id="R53a75098629346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d995a15b2247e9" /><Relationship Type="http://schemas.openxmlformats.org/officeDocument/2006/relationships/notesSlide" Target="/ppt/notesSlides/notesSlide10.xml" Id="R95b0963cd19e4f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cf505c9314761" /><Relationship Type="http://schemas.openxmlformats.org/officeDocument/2006/relationships/notesSlide" Target="/ppt/notesSlides/notesSlide11.xml" Id="Rc200f308c3c141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3389f7c97421a" /><Relationship Type="http://schemas.openxmlformats.org/officeDocument/2006/relationships/image" Target="/ppt/media/image2.png" Id="R1a9e7c14db464084" /><Relationship Type="http://schemas.openxmlformats.org/officeDocument/2006/relationships/image" Target="/ppt/media/image8.jpeg" Id="R2af923f572f942de" /><Relationship Type="http://schemas.openxmlformats.org/officeDocument/2006/relationships/image" Target="/ppt/media/image9.jpeg" Id="R4c60d12625904ee3" /><Relationship Type="http://schemas.openxmlformats.org/officeDocument/2006/relationships/notesSlide" Target="/ppt/notesSlides/notesSlide12.xml" Id="R95aa0febc9b04b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0412fc1c0943fe" /><Relationship Type="http://schemas.openxmlformats.org/officeDocument/2006/relationships/notesSlide" Target="/ppt/notesSlides/notesSlide13.xml" Id="R51813722ec4545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12975a7cc452f" /><Relationship Type="http://schemas.openxmlformats.org/officeDocument/2006/relationships/image" Target="/ppt/media/image10.jpeg" Id="Rb779cfe372044676" /><Relationship Type="http://schemas.openxmlformats.org/officeDocument/2006/relationships/notesSlide" Target="/ppt/notesSlides/notesSlide14.xml" Id="R15533a5277dc40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AC1A8-6E09-4111-A0DD-C430CFC485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5aaa629f442cd"/>
          <a:srcRect xmlns:a="http://schemas.openxmlformats.org/drawingml/2006/main" l="0" t="7109" r="0" b="71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4756D-F6C8-430F-B9B2-5AAB3DF9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71B"/>
          </a:solidFill>
          <a:ln xmlns:a="http://schemas.openxmlformats.org/drawingml/2006/main" w="0">
            <a:solidFill>
              <a:srgbClr val="11171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1A96B-1333-4C59-8D2B-5DA0E4F5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C967B-88BC-4A6D-AF84-7192DAD1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29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65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4650" b="1" i="0">
                <a:solidFill>
                  <a:srgbClr val="F1EEE3"/>
                </a:solidFill>
              </a:defRPr>
            </a:pPr>
            <a:r>
              <a:rPr sz="4650" b="1" i="0">
                <a:solidFill>
                  <a:srgbClr val="F1EEE3"/>
                </a:solidFill>
              </a:rPr>
              <a:t>SHOWTIME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5AAE37-6506-44BD-9F3C-F58C19AC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811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C9FF3D"/>
                </a:solidFill>
              </a:defRPr>
            </a:pPr>
            <a:r>
              <a:rPr sz="2550" b="1" i="0">
                <a:solidFill>
                  <a:srgbClr val="C9FF3D"/>
                </a:solidFill>
              </a:rPr>
              <a:t>SUBWAY PERFORMER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BBAAB-4539-4C70-B4CA-DFFB498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725" b="0" i="0">
                <a:solidFill>
                  <a:srgbClr val="F1EEE3"/>
                </a:solidFill>
              </a:defRPr>
            </a:pPr>
            <a:r>
              <a:rPr sz="1725" b="0" i="0">
                <a:solidFill>
                  <a:srgbClr val="F1EEE3"/>
                </a:solidFill>
              </a:rPr>
              <a:t>A playable NYC subway performance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F3681-F3BC-45FA-921D-BF3EC10A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A8B1B5"/>
                </a:solidFill>
              </a:defRPr>
            </a:pPr>
            <a:r>
              <a:rPr sz="1125" b="1" i="0">
                <a:solidFill>
                  <a:srgbClr val="A8B1B5"/>
                </a:solidFill>
              </a:rPr>
              <a:t>Process documentation / Version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F2CD4-E324-4CCF-9973-35AB1B6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1EEE3"/>
                </a:solidFill>
              </a:defRPr>
            </a:pPr>
            <a:r>
              <a:rPr sz="1275" b="0" i="0">
                <a:solidFill>
                  <a:srgbClr val="F1EEE3"/>
                </a:solidFill>
              </a:rPr>
              <a:t>A local 3D game with an optional real-time visual enhancement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7A3D5-FFB1-4902-AE8A-FF6A8851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C9FF3D"/>
                </a:solidFill>
              </a:defRPr>
            </a:pPr>
            <a:r>
              <a:rPr sz="900" b="1" i="0">
                <a:solidFill>
                  <a:srgbClr val="C9FF3D"/>
                </a:solidFill>
              </a:rPr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412637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5E8E6-ACAA-4283-BD73-3397B388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5025E-A267-4FEB-9831-FA67DB41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THE PREMISE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6C188-7088-475D-A3E2-3DD1AB1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A performance game inside a moving NYC subway car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98DBB-0DC0-4758-B99B-55D97FD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F02AB-51EF-4686-B602-48DA568C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23B9D-41B3-4FED-A4A9-4A1B1E8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F1EEE3"/>
                </a:solidFill>
              </a:defRPr>
            </a:pPr>
            <a:r>
              <a:rPr sz="2025" b="1" i="0">
                <a:solidFill>
                  <a:srgbClr val="F1EEE3"/>
                </a:solidFill>
              </a:rPr>
              <a:t>The player is a street performer working a crowded car. Every move earns attention, but every mistake costs safety.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0132B-CD6A-45EC-9124-A0B7E18B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E02A1-D1D2-4F90-AE85-BE161EEC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1EEE3"/>
                </a:solidFill>
              </a:defRPr>
            </a:pPr>
            <a:r>
              <a:rPr sz="1575" b="0" i="0">
                <a:solidFill>
                  <a:srgbClr val="F1EEE3"/>
                </a:solidFill>
              </a:rPr>
              <a:t>Move through a live crowd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4A008-A360-49CA-8FE1-ADFB8E0B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C85B9-8F18-4CB2-9CF0-0F7FD40A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1EEE3"/>
                </a:solidFill>
              </a:defRPr>
            </a:pPr>
            <a:r>
              <a:rPr sz="1575" b="0" i="0">
                <a:solidFill>
                  <a:srgbClr val="F1EEE3"/>
                </a:solidFill>
              </a:rPr>
              <a:t>Use poles for fast tricks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45936-7D7E-4504-B4FE-F22729B2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1BD7C-89E8-4BD4-B5BB-F7CF8E87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1EEE3"/>
                </a:solidFill>
              </a:defRPr>
            </a:pPr>
            <a:r>
              <a:rPr sz="1575" b="0" i="0">
                <a:solidFill>
                  <a:srgbClr val="F1EEE3"/>
                </a:solidFill>
              </a:rPr>
              <a:t>Read turbulence before it hits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49902-10E4-439E-8DD0-92C7BD53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64DF5-AB3F-4D08-B079-F6AF77E8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75" b="0" i="0">
                <a:solidFill>
                  <a:srgbClr val="F1EEE3"/>
                </a:solidFill>
              </a:defRPr>
            </a:pPr>
            <a:r>
              <a:rPr sz="1575" b="0" i="0">
                <a:solidFill>
                  <a:srgbClr val="F1EEE3"/>
                </a:solidFill>
              </a:rPr>
              <a:t>Earn tips without hitting passengers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14A7F-CA5F-4772-8536-48C5E75F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37210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0">
            <a:solidFill>
              <a:srgbClr val="30383D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8891D-C113-45AF-8EEC-E82B029F0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da32977794e63"/>
          <a:srcRect xmlns:a="http://schemas.openxmlformats.org/drawingml/2006/main" l="0" t="3186" r="0" b="3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657350"/>
            <a:ext cx="5181600" cy="3638550"/>
          </a:xfrm>
          <a:prstGeom xmlns:a="http://schemas.openxmlformats.org/drawingml/2006/main" prst="roundRect">
            <a:avLst>
              <a:gd name="adj" fmla="val 209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250E61-223F-47DB-AF80-51550321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prototype keeps play readable first: the car, the crowd, and the rules stay visible during performance.</a:t>
            </a:r>
          </a:p>
        </p:txBody>
      </p:sp>
    </p:spTree>
    <p:extLst>
      <p:ext uri="{BB962C8B-B14F-4D97-AF65-F5344CB8AC3E}">
        <p14:creationId xmlns:p14="http://schemas.microsoft.com/office/powerpoint/2010/main" val="1860305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9AADD-E014-45EF-9767-16B2859F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ABB97-AA15-4233-9A4C-770F41CB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DESIGN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49362-4A03-42CB-9C00-F87E52AA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The target moved from flat action to a physical space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3F17B-C4F7-4800-BCFE-23E1FC27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1F25E-BE76-4238-A919-CFB203B5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05EB7-9483-43C8-9996-AB0E2EB3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2197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0">
            <a:solidFill>
              <a:srgbClr val="30383D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B2393-4BE1-4C01-8A16-8201571F55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95204adba4851"/>
          <a:srcRect xmlns:a="http://schemas.openxmlformats.org/drawingml/2006/main" l="0" t="18717" r="0" b="18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502920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31A8F-8AC3-4E46-A123-3B690F5B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F0A51A"/>
                </a:solidFill>
              </a:defRPr>
            </a:pPr>
            <a:r>
              <a:rPr sz="975" b="1" i="0">
                <a:solidFill>
                  <a:srgbClr val="F0A51A"/>
                </a:solidFill>
              </a:rPr>
              <a:t>EARLY PLAYABLE 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AB443-37BB-4526-80CA-465E1072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Strong game loop, limited spatial depth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683DC1-1EBA-4C0D-AFCB-3E8DCAA9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62100"/>
            <a:ext cx="52197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0">
            <a:solidFill>
              <a:srgbClr val="30383D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B1567-0161-4BFC-A313-C0D59DBE7D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4a0a16ef3415d"/>
          <a:srcRect xmlns:a="http://schemas.openxmlformats.org/drawingml/2006/main" l="0" t="9596" r="0" b="95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1657350"/>
            <a:ext cx="502920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33D4D-D142-47F6-BB9E-361F4017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577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VERSION 2 DIRECTION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33243-81EF-4B2E-9162-0D1C8DD5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673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Enclosed train, solid obstacles, articulated riders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C4610-AD5A-46FC-9084-04386D07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visual ambition grew from a playable canvas into a contained 3D world with readable physical rules.</a:t>
            </a:r>
          </a:p>
        </p:txBody>
      </p:sp>
    </p:spTree>
    <p:extLst>
      <p:ext uri="{BB962C8B-B14F-4D97-AF65-F5344CB8AC3E}">
        <p14:creationId xmlns:p14="http://schemas.microsoft.com/office/powerpoint/2010/main" val="2116354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768B21-706C-489D-87AA-25BEAD5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AB549-020F-4C4F-BCA9-49989D28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BUILD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0783E-DCC2-47E7-82E0-86A3EE36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The project grew through short, testable passes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3CC51-83E7-4399-910E-48388694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2A5A1-AEB1-4E91-A4C0-34A427C1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F8EF2-AFDB-4561-9AF7-01C11771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1EEE3"/>
                </a:solidFill>
              </a:defRPr>
            </a:pPr>
            <a:r>
              <a:rPr sz="1725" b="1" i="0">
                <a:solidFill>
                  <a:srgbClr val="F1EEE3"/>
                </a:solidFill>
              </a:rPr>
              <a:t>Each pass answered one practical question before the next layer was added.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C169D-50C6-4017-B718-333C808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038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B49BA-A835-4481-8EC9-048CC4B5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3D"/>
          </a:solidFill>
          <a:ln xmlns:a="http://schemas.openxmlformats.org/drawingml/2006/main" w="9525">
            <a:solidFill>
              <a:srgbClr val="A8B1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959C4-3316-4A3E-9C73-62BE4471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9FF3D"/>
                </a:solidFill>
              </a:defRPr>
            </a:pPr>
            <a:r>
              <a:rPr sz="1350" b="1" i="0">
                <a:solidFill>
                  <a:srgbClr val="C9FF3D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E0464-349F-4210-8DEF-B8A73CB7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C9FF3D"/>
                </a:solidFill>
              </a:defRPr>
            </a:pPr>
            <a:r>
              <a:rPr sz="1050" b="1" i="0">
                <a:solidFill>
                  <a:srgbClr val="C9FF3D"/>
                </a:solidFill>
              </a:rPr>
              <a:t>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628E1-2731-47D0-9096-083B4A2E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672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Performer fantasy and subway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79FE6-83C2-4EF2-A2F3-8805B60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3D"/>
          </a:solidFill>
          <a:ln xmlns:a="http://schemas.openxmlformats.org/drawingml/2006/main" w="9525">
            <a:solidFill>
              <a:srgbClr val="A8B1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D10A6-0067-4D57-9411-BABBB5AE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95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9FF3D"/>
                </a:solidFill>
              </a:defRPr>
            </a:pPr>
            <a:r>
              <a:rPr sz="1350" b="1" i="0">
                <a:solidFill>
                  <a:srgbClr val="C9FF3D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08C49-F21D-425F-848A-A441011F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943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C9FF3D"/>
                </a:solidFill>
              </a:defRPr>
            </a:pPr>
            <a:r>
              <a:rPr sz="1050" b="1" i="0">
                <a:solidFill>
                  <a:srgbClr val="C9FF3D"/>
                </a:solidFill>
              </a:rPr>
              <a:t>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5BBA0B-7E12-46EC-93E0-436723AE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672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NYC interiors, movement, crowd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B036A-AD31-4601-A07B-AA7A2DA6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3D"/>
          </a:solidFill>
          <a:ln xmlns:a="http://schemas.openxmlformats.org/drawingml/2006/main" w="9525">
            <a:solidFill>
              <a:srgbClr val="A8B1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A7106-8EED-4BAC-94CB-F755B241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95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9FF3D"/>
                </a:solidFill>
              </a:defRPr>
            </a:pPr>
            <a:r>
              <a:rPr sz="1350" b="1" i="0">
                <a:solidFill>
                  <a:srgbClr val="C9FF3D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4E4112-F39A-4FFF-990F-382B31BC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C9FF3D"/>
                </a:solidFill>
              </a:defRPr>
            </a:pPr>
            <a:r>
              <a:rPr sz="1050" b="1" i="0">
                <a:solidFill>
                  <a:srgbClr val="C9FF3D"/>
                </a:solidFill>
              </a:rPr>
              <a:t>MESHY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7C26D4-3382-4381-806B-81F35D90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672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Rigged GLB commuter identities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46562-C9DF-446F-8B63-D30175B9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3D"/>
          </a:solidFill>
          <a:ln xmlns:a="http://schemas.openxmlformats.org/drawingml/2006/main" w="9525">
            <a:solidFill>
              <a:srgbClr val="A8B1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596F4-50B7-43E6-A4B9-FD821694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95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9FF3D"/>
                </a:solidFill>
              </a:defRPr>
            </a:pPr>
            <a:r>
              <a:rPr sz="1350" b="1" i="0">
                <a:solidFill>
                  <a:srgbClr val="C9FF3D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B5BA5E-05A8-4AAB-9468-97968C28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43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C9FF3D"/>
                </a:solidFill>
              </a:defRPr>
            </a:pPr>
            <a:r>
              <a:rPr sz="1050" b="1" i="0">
                <a:solidFill>
                  <a:srgbClr val="C9FF3D"/>
                </a:solidFill>
              </a:rPr>
              <a:t>SIMULATION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DCB57E-51EC-4DE2-B175-AC7980A2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Collision, balance, tricks, stations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2ADA4C-5D2D-4B57-99BE-257D4855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3D"/>
          </a:solidFill>
          <a:ln xmlns:a="http://schemas.openxmlformats.org/drawingml/2006/main" w="9525">
            <a:solidFill>
              <a:srgbClr val="A8B1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FAAC3D-C0A0-4D7D-B3AF-0D5D3783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95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9FF3D"/>
                </a:solidFill>
              </a:defRPr>
            </a:pPr>
            <a:r>
              <a:rPr sz="1350" b="1" i="0">
                <a:solidFill>
                  <a:srgbClr val="C9FF3D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7CBD70-D743-4DF4-ACBE-00AF8BB0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43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C9FF3D"/>
                </a:solidFill>
              </a:defRPr>
            </a:pPr>
            <a:r>
              <a:rPr sz="1050" b="1" i="0">
                <a:solidFill>
                  <a:srgbClr val="C9FF3D"/>
                </a:solidFill>
              </a:rPr>
              <a:t>FIGMA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C3C70-EBEA-4104-A27D-7A70464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2672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HUD, menus, prompts, tutorial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C0C147-E1FE-4393-9676-068DB384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9146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9525">
            <a:solidFill>
              <a:srgbClr val="A8B1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C87A3F-A823-4CBD-9669-03DD6F69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095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11171B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1171B"/>
                </a:solidFill>
              </a:defRPr>
            </a:pPr>
            <a:r>
              <a:rPr sz="1350" b="1" i="0">
                <a:solidFill>
                  <a:srgbClr val="11171B"/>
                </a:solidFill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DBD03-9626-469C-AA94-5375F37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9433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050" b="1" i="0">
                <a:solidFill>
                  <a:srgbClr val="C9FF3D"/>
                </a:solidFill>
              </a:defRPr>
            </a:pPr>
            <a:r>
              <a:rPr sz="1050" b="1" i="0">
                <a:solidFill>
                  <a:srgbClr val="C9FF3D"/>
                </a:solidFill>
              </a:rPr>
              <a:t>REACTOR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6F309B-9FD6-4FC2-99B5-B5BA283F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267200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Optional live visual enhancement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BEC9E-690A-4BD1-A5DB-0301A6CE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working rule was simple: keep the game playable without Reactor, then add visual ambition around a stable simulation.</a:t>
            </a:r>
          </a:p>
        </p:txBody>
      </p:sp>
    </p:spTree>
    <p:extLst>
      <p:ext uri="{BB962C8B-B14F-4D97-AF65-F5344CB8AC3E}">
        <p14:creationId xmlns:p14="http://schemas.microsoft.com/office/powerpoint/2010/main" val="5118576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00EC71-6839-411A-83B3-010EFD3E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6F447-77F3-4AAD-A653-99D1A4E6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GAME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9DE24-CC4B-4D93-A06A-13976710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The game loop turns attention into movement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E5900-64D3-445F-A23D-28E95025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06640-1C14-494F-B729-FF5209FB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F574A-CE36-48B0-AE55-87CA0015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1EEE3"/>
                </a:solidFill>
              </a:defRPr>
            </a:pPr>
            <a:r>
              <a:rPr sz="1725" b="1" i="0">
                <a:solidFill>
                  <a:srgbClr val="F1EEE3"/>
                </a:solidFill>
              </a:rPr>
              <a:t>The player constantly chooses between performance and safe positioning.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0348A-EF3D-4531-B480-E7BB168D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28575">
            <a:solidFill>
              <a:srgbClr val="5D8E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84F71-C515-4169-B5CD-A8F61FD3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57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EA0"/>
          </a:solidFill>
          <a:ln xmlns:a="http://schemas.openxmlformats.org/drawingml/2006/main" w="0">
            <a:solidFill>
              <a:srgbClr val="5D8E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CC4D6-DBB5-412A-B009-6E199848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5D8EA0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5D8EA0"/>
                </a:solidFill>
              </a:defRPr>
            </a:pPr>
            <a:r>
              <a:rPr sz="1650" b="1" i="0">
                <a:solidFill>
                  <a:srgbClr val="5D8EA0"/>
                </a:solidFill>
              </a:rPr>
              <a:t>MOVE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19D1A-C147-4E3D-90F1-8E2426E2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Find a clear pocket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8AEE5-3060-4849-BD4A-4D292704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86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A8B1B5"/>
                </a:solidFill>
              </a:defRPr>
            </a:pPr>
            <a:r>
              <a:rPr sz="2100" b="1" i="0">
                <a:solidFill>
                  <a:srgbClr val="A8B1B5"/>
                </a:solidFill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6E4A5-FC2C-48E9-B6D0-11029874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28575">
            <a:solidFill>
              <a:srgbClr val="F0A5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C05C7C-6D28-4675-8F60-6E6AFF3F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457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8D15E-F7DA-4284-B246-52A749A3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67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0A51A"/>
                </a:solidFill>
              </a:defRPr>
            </a:pPr>
            <a:r>
              <a:rPr sz="1650" b="1" i="0">
                <a:solidFill>
                  <a:srgbClr val="F0A51A"/>
                </a:solidFill>
              </a:rPr>
              <a:t>GRIP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26BFE-BE6E-4FB0-AD38-A3F38A5D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Attach to a rod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40B0B-8F64-4845-8286-06F38A3F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86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A8B1B5"/>
                </a:solidFill>
              </a:defRPr>
            </a:pPr>
            <a:r>
              <a:rPr sz="2100" b="1" i="0">
                <a:solidFill>
                  <a:srgbClr val="A8B1B5"/>
                </a:solidFill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7BFC3-DCA6-433F-8399-1147E7E3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28575">
            <a:solidFill>
              <a:srgbClr val="C9FF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C0F75-A630-4FED-B8ED-D7EF6F03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457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090598-DB5D-47DC-A7F3-109542AE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67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C9FF3D"/>
                </a:solidFill>
              </a:defRPr>
            </a:pPr>
            <a:r>
              <a:rPr sz="1650" b="1" i="0">
                <a:solidFill>
                  <a:srgbClr val="C9FF3D"/>
                </a:solidFill>
              </a:rPr>
              <a:t>PERFORM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05217-0544-416B-ACBD-E60AD5DD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623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Spin, flip, dance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C232B-C01B-4E4F-9653-F5F13810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86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A8B1B5"/>
                </a:solidFill>
              </a:defRPr>
            </a:pPr>
            <a:r>
              <a:rPr sz="2100" b="1" i="0">
                <a:solidFill>
                  <a:srgbClr val="A8B1B5"/>
                </a:solidFill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6AA01E-2E9D-4BDA-A4A6-E35B4B6D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175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28575">
            <a:solidFill>
              <a:srgbClr val="E638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33D6D-163B-4727-9993-340E231A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457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3838"/>
          </a:solidFill>
          <a:ln xmlns:a="http://schemas.openxmlformats.org/drawingml/2006/main" w="0">
            <a:solidFill>
              <a:srgbClr val="E6383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96433-63B8-4490-8B68-8D5CCBE4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E63838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E63838"/>
                </a:solidFill>
              </a:defRPr>
            </a:pPr>
            <a:r>
              <a:rPr sz="1650" b="1" i="0">
                <a:solidFill>
                  <a:srgbClr val="E63838"/>
                </a:solidFill>
              </a:rPr>
              <a:t>RECOVER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00A61-35F2-4B13-8883-12781B1C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623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Read the crowd and shake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FC0832-C7B4-440B-83C1-70B1062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861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2100" b="1" i="0">
                <a:solidFill>
                  <a:srgbClr val="A8B1B5"/>
                </a:solidFill>
              </a:defRPr>
            </a:pPr>
            <a:r>
              <a:rPr sz="2100" b="1" i="0">
                <a:solidFill>
                  <a:srgbClr val="A8B1B5"/>
                </a:solidFill>
              </a:rPr>
              <a:t>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33D2C7-84F1-41FD-A680-94A996BC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1809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28575">
            <a:solidFill>
              <a:srgbClr val="F0A51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C8DA2-219A-4F2C-8FD5-A741A8FE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457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A598F-E36C-4791-B4F7-9D6252E0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7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0A51A"/>
                </a:solidFill>
              </a:defRPr>
            </a:pPr>
            <a:r>
              <a:rPr sz="1650" b="1" i="0">
                <a:solidFill>
                  <a:srgbClr val="F0A51A"/>
                </a:solidFill>
              </a:rPr>
              <a:t>EARN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AAB22-622B-4CE7-BBB0-964123F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623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Bank tips and combo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5346C-9962-4CE8-B9FF-EF09D98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Tips are the visible reward. Strikes, noise, balance, and clearance create the pressure underneath.</a:t>
            </a:r>
          </a:p>
        </p:txBody>
      </p:sp>
    </p:spTree>
    <p:extLst>
      <p:ext uri="{BB962C8B-B14F-4D97-AF65-F5344CB8AC3E}">
        <p14:creationId xmlns:p14="http://schemas.microsoft.com/office/powerpoint/2010/main" val="672024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2E4B6E-C6F2-46D3-9253-6F41714E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B87E3-65EA-4EFD-92B9-E99358B0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WORLD BUILDING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0D02F-4F62-4E4A-83A1-7BFAF4DB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The train is a playable object, not a backdrop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FC2DB-882D-4F2A-81CD-E72FFE67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DFD84-89CA-40F6-8389-68E247FA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F721D-573B-4A34-A1A9-83E5E266AF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85352ea19f4318"/>
          <a:srcRect xmlns:a="http://schemas.openxmlformats.org/drawingml/2006/main" l="0" t="11667" r="0" b="11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62100"/>
            <a:ext cx="68580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08EA3-C6D2-4DAF-B4D4-BA4FD4BF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85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EA0"/>
          </a:solidFill>
          <a:ln xmlns:a="http://schemas.openxmlformats.org/drawingml/2006/main" w="0">
            <a:solidFill>
              <a:srgbClr val="5D8E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AA505-6DFF-40FC-8E3B-4753D98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 i="0">
                <a:solidFill>
                  <a:srgbClr val="5D8EA0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5D8EA0"/>
                </a:solidFill>
              </a:defRPr>
            </a:pPr>
            <a:r>
              <a:rPr sz="1200" b="1" i="0">
                <a:solidFill>
                  <a:srgbClr val="5D8EA0"/>
                </a:solidFill>
              </a:rPr>
              <a:t>WINDOWS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19D65-9646-4C37-8F93-1FE9BAAA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1EEE3"/>
                </a:solidFill>
              </a:defRPr>
            </a:pPr>
            <a:r>
              <a:rPr sz="1275" b="0" i="0">
                <a:solidFill>
                  <a:srgbClr val="F1EEE3"/>
                </a:solidFill>
              </a:rPr>
              <a:t>Openings show tunnel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2B29F7-1FD1-432A-9887-E5EE94FD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85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67628-7D7A-40A0-9F9C-B9D68409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0A51A"/>
                </a:solidFill>
              </a:defRPr>
            </a:pPr>
            <a:r>
              <a:rPr sz="1200" b="1" i="0">
                <a:solidFill>
                  <a:srgbClr val="F0A51A"/>
                </a:solidFill>
              </a:rPr>
              <a:t>POLES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E015A-1BC5-4E24-9380-83E68AA5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1EEE3"/>
                </a:solidFill>
              </a:defRPr>
            </a:pPr>
            <a:r>
              <a:rPr sz="1275" b="0" i="0">
                <a:solidFill>
                  <a:srgbClr val="F1EEE3"/>
                </a:solidFill>
              </a:rPr>
              <a:t>Reachable contact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E339A-53B3-440B-8120-99E8D1B8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81400"/>
            <a:ext cx="85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495E9-EE07-43AF-B861-251C5EC6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C9FF3D"/>
                </a:solidFill>
              </a:defRPr>
            </a:pPr>
            <a:r>
              <a:rPr sz="1200" b="1" i="0">
                <a:solidFill>
                  <a:srgbClr val="C9FF3D"/>
                </a:solidFill>
              </a:rPr>
              <a:t>BENCHES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66547-7B35-438B-B9CD-45A252E7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1EEE3"/>
                </a:solidFill>
              </a:defRPr>
            </a:pPr>
            <a:r>
              <a:rPr sz="1275" b="0" i="0">
                <a:solidFill>
                  <a:srgbClr val="F1EEE3"/>
                </a:solidFill>
              </a:rPr>
              <a:t>Seats and lie-down surfaces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EF4AE-E4AD-4011-BAF3-A35D4C0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38650"/>
            <a:ext cx="85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EE3"/>
          </a:solidFill>
          <a:ln xmlns:a="http://schemas.openxmlformats.org/drawingml/2006/main" w="0">
            <a:solidFill>
              <a:srgbClr val="F1EE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C0BC4-2357-40B7-9B7E-A074E175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1EEE3"/>
                </a:solidFill>
              </a:defRPr>
            </a:pPr>
            <a:r>
              <a:rPr sz="1200" b="1" i="0">
                <a:solidFill>
                  <a:srgbClr val="F1EEE3"/>
                </a:solidFill>
              </a:rPr>
              <a:t>LIGHT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94F366-4BCB-4667-9559-02F0FD69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48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F1EEE3"/>
                </a:solidFill>
              </a:defRPr>
            </a:pPr>
            <a:r>
              <a:rPr sz="1275" b="0" i="0">
                <a:solidFill>
                  <a:srgbClr val="F1EEE3"/>
                </a:solidFill>
              </a:rPr>
              <a:t>Side fluorescent strips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CA1CD-EFBA-478A-B471-38158092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renderer uses a 1280 × 832 gameplay target while the browser scales the canvas and interface to the viewport.</a:t>
            </a:r>
          </a:p>
        </p:txBody>
      </p:sp>
    </p:spTree>
    <p:extLst>
      <p:ext uri="{BB962C8B-B14F-4D97-AF65-F5344CB8AC3E}">
        <p14:creationId xmlns:p14="http://schemas.microsoft.com/office/powerpoint/2010/main" val="1982229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6FB21-C363-41CC-B974-CB13E4A4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1BFFF-583E-4455-8B18-F7C67A2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CHARACTER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855D1F-5B9D-4586-9C1A-66D975A2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Characters begin as roles, then become riders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E6B8B-EACC-4C54-83A6-E8FDDF62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EE5BB-40E4-4AA2-8D4A-F9124BCD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74FD1-23AE-4270-8477-C0192565EA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53aba99c641a8"/>
          <a:srcRect xmlns:a="http://schemas.openxmlformats.org/drawingml/2006/main" l="18929" t="0" r="189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62100"/>
            <a:ext cx="542925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9F3F5-94AD-4B4E-A072-A7025EA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C9FF3D"/>
                </a:solidFill>
              </a:defRPr>
            </a:pPr>
            <a:r>
              <a:rPr sz="1125" b="1" i="0">
                <a:solidFill>
                  <a:srgbClr val="C9FF3D"/>
                </a:solidFill>
              </a:rPr>
              <a:t>MESHY AI → GLB → RIGGED RUNTIME 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70E62-3662-4CC9-8A65-82C3C106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550" b="1" i="0">
                <a:solidFill>
                  <a:srgbClr val="F1EEE3"/>
                </a:solidFill>
              </a:defRPr>
            </a:pPr>
            <a:r>
              <a:rPr sz="2550" b="1" i="0">
                <a:solidFill>
                  <a:srgbClr val="F1EEE3"/>
                </a:solidFill>
              </a:rPr>
              <a:t>18 stable identities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DF57D-0001-4CEE-ACF7-8B782575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4DDEC-A313-4E1B-9AD4-A6F92319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Showtime Acrobat as the player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DA5EA-50A2-4A53-ACFA-BC8393AE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F270D-259C-48DD-A73F-BD62815A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Sleep Master for resting passengers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325BB-A726-4CEF-A578-55F0F18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F8A69-93E9-4FCE-B1E6-13B134E0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48100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Seated, standing, commuter, and role-specific riders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5CF0D-6574-49D7-9686-2E78F6B6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71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B004C-FC43-4E8C-96DF-77B09BF8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95775"/>
            <a:ext cx="455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Independent skeletons for every actor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AAC08-CD0A-4373-A8B4-DD0E0373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958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A8B1B5"/>
                </a:solidFill>
              </a:defRPr>
            </a:pPr>
            <a:r>
              <a:rPr sz="1275" b="0" i="0">
                <a:solidFill>
                  <a:srgbClr val="A8B1B5"/>
                </a:solidFill>
              </a:rPr>
              <a:t>Meshy supplies the base humanoid rigs. The game adds procedural poses for contact, rests, flips, falls, and pole 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F0A5D-ADCA-421B-87C3-D73C134A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source GLBs remain intact; runtime copies use stable web-safe names and shared loading code.</a:t>
            </a:r>
          </a:p>
        </p:txBody>
      </p:sp>
    </p:spTree>
    <p:extLst>
      <p:ext uri="{BB962C8B-B14F-4D97-AF65-F5344CB8AC3E}">
        <p14:creationId xmlns:p14="http://schemas.microsoft.com/office/powerpoint/2010/main" val="1874291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6A2A0-FBAE-4C50-A5F2-26BD951C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C6E11-B72B-4BF1-89F1-65424194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SIMULATION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3C528-8193-470C-8BCD-CAB92D67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Movement is built around contact and consequence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03001-52AB-4538-B75C-4126FB18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23484-F716-447E-A03D-D621573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A8A85-B019-40FF-9FD5-5BBE3A277B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ee30914f64d9e"/>
          <a:srcRect xmlns:a="http://schemas.openxmlformats.org/drawingml/2006/main" l="14568" t="0" r="145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62100"/>
            <a:ext cx="619125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E4BCD-0C49-4067-8EFD-62E4677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1EEE3"/>
                </a:solidFill>
              </a:defRPr>
            </a:pPr>
            <a:r>
              <a:rPr sz="2100" b="1" i="0">
                <a:solidFill>
                  <a:srgbClr val="F1EEE3"/>
                </a:solidFill>
              </a:rPr>
              <a:t>A train lurch is a test of preparation.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8F5CC-FBE6-446A-82D2-E4583D28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E34C2A-790E-4F0D-BBD3-D917BBA0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24150"/>
            <a:ext cx="398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1EEE3"/>
                </a:solidFill>
              </a:defRPr>
            </a:pPr>
            <a:r>
              <a:rPr sz="1425" b="0" i="0">
                <a:solidFill>
                  <a:srgbClr val="F1EEE3"/>
                </a:solidFill>
              </a:rPr>
              <a:t>Unsecured grip → directional fall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9C073-F8F9-439B-B6CA-A1904801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58B6A-AD21-4C80-BF1C-601458D0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0400"/>
            <a:ext cx="398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1EEE3"/>
                </a:solidFill>
              </a:defRPr>
            </a:pPr>
            <a:r>
              <a:rPr sz="1425" b="0" i="0">
                <a:solidFill>
                  <a:srgbClr val="F1EEE3"/>
                </a:solidFill>
              </a:rPr>
              <a:t>Q beside a reachable rod → brace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DF9AD-9357-4244-A6C8-D770C13C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52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CC7BA-8A46-403D-8558-98A54C34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76650"/>
            <a:ext cx="398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1EEE3"/>
                </a:solidFill>
              </a:defRPr>
            </a:pPr>
            <a:r>
              <a:rPr sz="1425" b="0" i="0">
                <a:solidFill>
                  <a:srgbClr val="F1EEE3"/>
                </a:solidFill>
              </a:rPr>
              <a:t>Crowd and poles stop movement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4C7A3-4385-4BD3-9973-8DCC48B8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2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B2DD38-90C5-4DC4-A5E6-3B28A2D1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52900"/>
            <a:ext cx="398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1EEE3"/>
                </a:solidFill>
              </a:defRPr>
            </a:pPr>
            <a:r>
              <a:rPr sz="1425" b="0" i="0">
                <a:solidFill>
                  <a:srgbClr val="F1EEE3"/>
                </a:solidFill>
              </a:rPr>
              <a:t>Clearance is checked through the stunt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67AA2-3641-4836-A431-34B02F33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9530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A8B1B5"/>
                </a:solidFill>
              </a:defRPr>
            </a:pPr>
            <a:r>
              <a:rPr sz="1275" b="0" i="0">
                <a:solidFill>
                  <a:srgbClr val="A8B1B5"/>
                </a:solidFill>
              </a:rPr>
              <a:t>The simulation owns the timing, collision, balance, score, and strike. Rendering follows the 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94A5F-7142-4F77-B255-6671BE3A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visual goal is fast action that still reads clearly: hands, poles, bodies, and consequences remain legible.</a:t>
            </a:r>
          </a:p>
        </p:txBody>
      </p:sp>
    </p:spTree>
    <p:extLst>
      <p:ext uri="{BB962C8B-B14F-4D97-AF65-F5344CB8AC3E}">
        <p14:creationId xmlns:p14="http://schemas.microsoft.com/office/powerpoint/2010/main" val="442843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03B136-458B-438A-B6F6-375E803C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15C60-DDCF-48BE-BBCF-685A5920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UI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533AD-643E-4A72-9336-355A0CFD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The interface came from Figma, then became live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26E3E-54BC-44E8-A67E-14B91A5A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BFFB3-4117-4FCF-BACA-3F21A263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D48C4-DB06-4529-BA06-B745832BD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4855e7a29b4614"/>
          <a:srcRect xmlns:a="http://schemas.openxmlformats.org/drawingml/2006/main" l="0" t="16098" r="0" b="16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62100"/>
            <a:ext cx="5219700" cy="3943350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6B30D-78D2-45FB-90A0-87CF1CFA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F0A51A"/>
                </a:solidFill>
              </a:defRPr>
            </a:pPr>
            <a:r>
              <a:rPr sz="1050" b="1" i="0">
                <a:solidFill>
                  <a:srgbClr val="F0A51A"/>
                </a:solidFill>
              </a:rPr>
              <a:t>DESIGN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DE0FA-87ED-462C-870F-D08E9317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250" b="1" i="0">
                <a:solidFill>
                  <a:srgbClr val="F1EEE3"/>
                </a:solidFill>
              </a:defRPr>
            </a:pPr>
            <a:r>
              <a:rPr sz="2250" b="1" i="0">
                <a:solidFill>
                  <a:srgbClr val="F1EEE3"/>
                </a:solidFill>
              </a:rPr>
              <a:t>Game UI.fig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A8900-3A28-4E8C-AD5E-807081C7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E8A7E-EA5E-41C6-96FC-01DCEDF3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HUD and cumulative tips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D43A5-162C-4341-839F-237CF4A8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24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7479F-86FE-462A-AD8D-4181F4BB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48025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Pause and mode selection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92139-12C3-410F-A27C-3E264373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A1A568-047A-4015-A80A-6685DD82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Tutorial and action prompts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F56C7D-E9EE-453D-94EB-1D02EF1B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05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177182-27FF-461E-9C5C-69FD5DD8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29075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Turbulence and line warnings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E0173-2FAF-4CAD-BD77-2259546C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AD3FD-FE74-4891-9904-429A03A7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Expanded controls and rewards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8F618-E049-4057-9DFC-85502F4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A8B1B5"/>
                </a:solidFill>
              </a:defRPr>
            </a:pPr>
            <a:r>
              <a:rPr sz="1275" b="0" i="0">
                <a:solidFill>
                  <a:srgbClr val="A8B1B5"/>
                </a:solidFill>
              </a:rPr>
              <a:t>SVG surfaces and the Koulen display type were brought into the browser as editable HTML/CSS, while values stay connected to the simulation.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8A298-935F-4786-9AC7-71F476BE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Figma file defines the visual language; the game state defines what the UI is allowed to say.</a:t>
            </a:r>
          </a:p>
        </p:txBody>
      </p:sp>
    </p:spTree>
    <p:extLst>
      <p:ext uri="{BB962C8B-B14F-4D97-AF65-F5344CB8AC3E}">
        <p14:creationId xmlns:p14="http://schemas.microsoft.com/office/powerpoint/2010/main" val="18596739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645A3-4EA5-414D-B2E2-075F5162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707E8-27E3-4E7A-AEB2-ECDFE89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DAE16-751F-414A-B195-59701BE7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A simple architecture keeps the experiment changeable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AB2BD-F6D8-43D4-89FE-C87C5614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FB96D-67EC-44CC-9719-B7901D70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3A1AA-F277-44CE-AC17-2DEC4663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F1EEE3"/>
                </a:solidFill>
              </a:defRPr>
            </a:pPr>
            <a:r>
              <a:rPr sz="1725" b="1" i="0">
                <a:solidFill>
                  <a:srgbClr val="F1EEE3"/>
                </a:solidFill>
              </a:rPr>
              <a:t>One state object drives the rules. Rendering stays downstream.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F3CD0-D16B-4460-9822-6D6665AC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657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5D8E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6C5B1-C4F7-4D37-8789-DBF79974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5D8EA0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5D8EA0"/>
                </a:solidFill>
              </a:defRPr>
            </a:pPr>
            <a:r>
              <a:rPr sz="1350" b="1" i="0">
                <a:solidFill>
                  <a:srgbClr val="5D8EA0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052D2-2B68-4180-AB1E-AA725CCF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47950"/>
            <a:ext cx="18478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F0A5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A9DE7-F519-4F29-B9BF-14D6AD76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860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0A51A"/>
                </a:solidFill>
              </a:defRPr>
            </a:pPr>
            <a:r>
              <a:rPr sz="1350" b="1" i="0">
                <a:solidFill>
                  <a:srgbClr val="F0A51A"/>
                </a:solidFill>
              </a:rPr>
              <a:t>GAME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7706D-467E-4F93-85D3-1F03D69D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47950"/>
            <a:ext cx="1657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E638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5A620-9244-46E9-8C52-A0216717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860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E63838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E63838"/>
                </a:solidFill>
              </a:defRPr>
            </a:pPr>
            <a:r>
              <a:rPr sz="1350" b="1" i="0">
                <a:solidFill>
                  <a:srgbClr val="E63838"/>
                </a:solidFill>
              </a:rPr>
              <a:t>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2FB20-F30B-42F1-9C85-4182E36B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1657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C9FF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268DAF-09AE-40AE-A145-0D5A3CD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3362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9FF3D"/>
                </a:solidFill>
              </a:defRPr>
            </a:pPr>
            <a:r>
              <a:rPr sz="1350" b="1" i="0">
                <a:solidFill>
                  <a:srgbClr val="C9FF3D"/>
                </a:solidFill>
              </a:rPr>
              <a:t>RENDER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BC038-F9E3-4F52-88D2-96E87B84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57550"/>
            <a:ext cx="1657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F1EE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2C81D-B8A6-4453-B1F9-CDDB44E6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956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1EEE3"/>
                </a:solidFill>
              </a:defRPr>
            </a:pPr>
            <a:r>
              <a:rPr sz="1350" b="1" i="0">
                <a:solidFill>
                  <a:srgbClr val="F1EEE3"/>
                </a:solidFill>
              </a:rPr>
              <a:t>HUD /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E93F1-F41A-446A-93A7-1626233D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47950"/>
            <a:ext cx="16573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C9FF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D1000-D268-41A8-975F-CBBEC4F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86075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C9FF3D"/>
                </a:solidFill>
              </a:defRPr>
            </a:pPr>
            <a:r>
              <a:rPr sz="1350" b="1" i="0">
                <a:solidFill>
                  <a:srgbClr val="C9FF3D"/>
                </a:solidFill>
              </a:rPr>
              <a:t>REACTOR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18FF6-EAEE-438A-88A9-50D0A1AE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990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B1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30A67-B06B-4DE5-B9F2-9A161A7D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647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B1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18DBB-44AE-416D-9A28-3AA46DBA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64770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B1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53327-04C3-46E4-B2EF-57BDD67E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64770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B1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2FD55-1F9A-4901-A0BD-5598DD1F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57450"/>
            <a:ext cx="6286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B1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F8360-030B-40C6-82B3-8CFA274F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A8B1B5"/>
                </a:solidFill>
              </a:defRPr>
            </a:pPr>
            <a:r>
              <a:rPr sz="1425" b="0" i="0">
                <a:solidFill>
                  <a:srgbClr val="A8B1B5"/>
                </a:solidFill>
              </a:rPr>
              <a:t>The same simulation can render locally, record to MP4, or feed the optional visual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7A54D-681A-4F9E-A200-6DBA9E83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separation makes the offline game dependable and keeps Reactor from owning the player’s physics.</a:t>
            </a:r>
          </a:p>
        </p:txBody>
      </p:sp>
    </p:spTree>
    <p:extLst>
      <p:ext uri="{BB962C8B-B14F-4D97-AF65-F5344CB8AC3E}">
        <p14:creationId xmlns:p14="http://schemas.microsoft.com/office/powerpoint/2010/main" val="16677742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9A9A5-A2A5-45DE-8FFF-C2EFBA9E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692F6-AED7-4066-A712-217DD529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REACTOR DIRECTION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413E9-B496-4178-A94D-1173D1F6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Reactor adds a visual pass after the game is already working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CE1BF-363D-4E55-8EB2-18FF6084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B8437-D004-414B-A875-548E7245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8CB8F-51D8-4850-A58B-FB9072EB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 b="1" i="0">
                <a:solidFill>
                  <a:srgbClr val="5D8EA0"/>
                </a:solidFill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5D8EA0"/>
                </a:solidFill>
              </a:defRPr>
            </a:pPr>
            <a:r>
              <a:rPr sz="1125" b="1" i="0">
                <a:solidFill>
                  <a:srgbClr val="5D8EA0"/>
                </a:solidFill>
              </a:rPr>
              <a:t>LOCAL 3D RENDER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2B696-813D-4FB4-8759-D00457EF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26860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5D8EA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6AB69-04C5-4C80-BA62-33BD9DEB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1EEE3"/>
                </a:solidFill>
              </a:defRPr>
            </a:pPr>
            <a:r>
              <a:rPr sz="1500" b="1" i="0">
                <a:solidFill>
                  <a:srgbClr val="F1EEE3"/>
                </a:solidFill>
              </a:rPr>
              <a:t>Canvas captureStream(24)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52646-CE46-4A53-8305-43A4ED8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A8B1B5"/>
                </a:solidFill>
              </a:defRPr>
            </a:pPr>
            <a:r>
              <a:rPr sz="1050" b="0" i="0">
                <a:solidFill>
                  <a:srgbClr val="A8B1B5"/>
                </a:solidFill>
              </a:rPr>
              <a:t>geometry + gameplay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077D9-3D56-4B87-B93E-CB553F7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A8B1B5"/>
                </a:solidFill>
              </a:defRPr>
            </a:pPr>
            <a:r>
              <a:rPr sz="2250" b="1" i="0">
                <a:solidFill>
                  <a:srgbClr val="A8B1B5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98CAA-53CF-43DC-B3B9-47F987B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52650"/>
            <a:ext cx="2857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C9FF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461A5-D22F-4E3B-8B9A-62899A6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C9FF3D"/>
                </a:solidFill>
              </a:defRPr>
            </a:pPr>
            <a:r>
              <a:rPr sz="1500" b="1" i="0">
                <a:solidFill>
                  <a:srgbClr val="C9FF3D"/>
                </a:solidFill>
              </a:rPr>
              <a:t>X2 model + NYC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51C81-BE7B-43A9-A069-C4616B73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956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A8B1B5"/>
                </a:solidFill>
              </a:defRPr>
            </a:pPr>
            <a:r>
              <a:rPr sz="1050" b="0" i="0">
                <a:solidFill>
                  <a:srgbClr val="A8B1B5"/>
                </a:solidFill>
              </a:rPr>
              <a:t>materials + lighting + realism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CE6C1-E756-4014-80CC-E1A96B0B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7650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2250" b="1" i="0">
                <a:solidFill>
                  <a:srgbClr val="A8B1B5"/>
                </a:solidFill>
              </a:defRPr>
            </a:pPr>
            <a:r>
              <a:rPr sz="2250" b="1" i="0">
                <a:solidFill>
                  <a:srgbClr val="A8B1B5"/>
                </a:solidFill>
              </a:rPr>
              <a:t>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68F44-F18C-44DB-A99C-336B8EFD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52650"/>
            <a:ext cx="4000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F0A5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4081C-5DE1-4CBE-A113-C40A1407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F0A51A"/>
                </a:solidFill>
              </a:defRPr>
            </a:pPr>
            <a:r>
              <a:rPr sz="1500" b="1" i="0">
                <a:solidFill>
                  <a:srgbClr val="F0A51A"/>
                </a:solidFill>
              </a:rPr>
              <a:t>Returned main_video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B1E7F-3788-4648-9209-B1E80CB5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A8B1B5"/>
                </a:solidFill>
              </a:defRPr>
            </a:pPr>
            <a:r>
              <a:rPr sz="1050" b="0" i="0">
                <a:solidFill>
                  <a:srgbClr val="A8B1B5"/>
                </a:solidFill>
              </a:rPr>
              <a:t>optional enhanced exhibition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0B401F-ADCD-48DC-8D39-34154EB3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C9FF3D"/>
                </a:solidFill>
              </a:defRPr>
            </a:pPr>
            <a:r>
              <a:rPr sz="1200" b="1" i="0">
                <a:solidFill>
                  <a:srgbClr val="C9FF3D"/>
                </a:solidFill>
              </a:rPr>
              <a:t>Prompt 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F83FE-4D41-41DA-A9C7-09EA7C6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1EEE3"/>
                </a:solidFill>
              </a:defRPr>
            </a:pPr>
            <a:r>
              <a:rPr sz="1425" b="0" i="0">
                <a:solidFill>
                  <a:srgbClr val="F1EEE3"/>
                </a:solidFill>
              </a:rPr>
              <a:t>Consistent stainless-steel NYC subway car, curved orange benches, dark speckled floor, side fluorescent lights, dim aisle, worn ads, grime, fingerprints, graffiti, tunnel motion. Preserve framing, poles, players, passengers, and gameplay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2C139-3FC3-4D8C-8738-6946E51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43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F0A51A"/>
                </a:solidFill>
              </a:defRPr>
            </a:pPr>
            <a:r>
              <a:rPr sz="1200" b="1" i="0">
                <a:solidFill>
                  <a:srgbClr val="F0A51A"/>
                </a:solidFill>
              </a:rPr>
              <a:t>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A8013-65E3-49AD-B3B6-2CD3995E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6720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A8B1B5"/>
                </a:solidFill>
              </a:defRPr>
            </a:pPr>
            <a:r>
              <a:rPr sz="1350" b="0" i="0">
                <a:solidFill>
                  <a:srgbClr val="A8B1B5"/>
                </a:solidFill>
              </a:rPr>
              <a:t>Wired in the local app. Stable LIVE verification remains the next technical gate.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E9799-9094-4A2E-A0B0-7B4031E0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Reactor can repaint the frames. It should not decide whether a player collides, grips, falls, scores, or wins.</a:t>
            </a:r>
          </a:p>
        </p:txBody>
      </p:sp>
    </p:spTree>
    <p:extLst>
      <p:ext uri="{BB962C8B-B14F-4D97-AF65-F5344CB8AC3E}">
        <p14:creationId xmlns:p14="http://schemas.microsoft.com/office/powerpoint/2010/main" val="12504769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E7E4D8-5AA2-4F6E-9EF9-6EE9532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49072-1FF5-4634-AC13-97A095E0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E0374-ECD5-4EB7-B9F8-AE2C38D7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The prototype is documented as a playable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9D412-BE27-4838-82C3-58B629E0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0F600-274C-409B-81A7-C893EB69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0C216-4D7C-4B8B-9A14-74D39E76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962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C9FF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78067-97EC-4505-ADA4-654B4C23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C9FF3D"/>
                </a:solidFill>
              </a:defRPr>
            </a:pPr>
            <a:r>
              <a:rPr sz="2400" b="1" i="0">
                <a:solidFill>
                  <a:srgbClr val="C9FF3D"/>
                </a:solidFill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678DC-34DB-4BB3-8CC5-0CF3D7AA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automated checks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1F3A0-F0C6-4711-A4B4-45965E98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962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F0A5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F245B-8375-4D3A-8EE3-BA9C58B3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F0A51A"/>
                </a:solidFill>
              </a:defRPr>
            </a:pPr>
            <a:r>
              <a:rPr sz="2400" b="1" i="0">
                <a:solidFill>
                  <a:srgbClr val="F0A51A"/>
                </a:solidFill>
              </a:rPr>
              <a:t>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6454A-403D-469D-BBFB-F9B9DE5F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14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stable character identities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00784-9B9A-4911-B9EC-96163529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52600"/>
            <a:ext cx="1962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5D8E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F998E-4822-44A1-918E-29992F81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81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 i="0">
                <a:solidFill>
                  <a:srgbClr val="5D8EA0"/>
                </a:solidFill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5D8EA0"/>
                </a:solidFill>
              </a:defRPr>
            </a:pPr>
            <a:r>
              <a:rPr sz="2400" b="1" i="0">
                <a:solidFill>
                  <a:srgbClr val="5D8EA0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6EA94-6FB6-49BA-B141-6ED54371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14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contained camera 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029E2-74C6-490D-8A47-57784CE5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52600"/>
            <a:ext cx="1962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E6383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E8208-AAC0-476B-8C69-ABCC137A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 i="0">
                <a:solidFill>
                  <a:srgbClr val="E63838"/>
                </a:solidFill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E63838"/>
                </a:solidFill>
              </a:defRPr>
            </a:pPr>
            <a:r>
              <a:rPr sz="2400" b="1" i="0">
                <a:solidFill>
                  <a:srgbClr val="E63838"/>
                </a:solidFill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20DE5-8998-47FA-83A3-AD62C15F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14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watch-only tutorial scenes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1AE91-037C-4CEE-844B-CB71499AE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19621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19050">
            <a:solidFill>
              <a:srgbClr val="F1EE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C464D1-EFBC-4B73-9EC9-6113DF5B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81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4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2400" b="1" i="0">
                <a:solidFill>
                  <a:srgbClr val="F1EEE3"/>
                </a:solidFill>
              </a:defRPr>
            </a:pPr>
            <a:r>
              <a:rPr sz="2400" b="1" i="0">
                <a:solidFill>
                  <a:srgbClr val="F1EEE3"/>
                </a:solidFill>
              </a:rPr>
              <a:t>1280 × 832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C331A-C6E2-4D69-9A15-4E141417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14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F1EEE3"/>
                </a:solidFill>
              </a:defRPr>
            </a:pPr>
            <a:r>
              <a:rPr sz="1125" b="0" i="0">
                <a:solidFill>
                  <a:srgbClr val="F1EEE3"/>
                </a:solidFill>
              </a:rPr>
              <a:t>gameplay render target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2B9CC-9AD1-4B98-92CE-41ED4844A1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e7c14db464084"/>
          <a:srcRect xmlns:a="http://schemas.openxmlformats.org/drawingml/2006/main" l="0" t="17262" r="0" b="172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3524250"/>
            <a:ext cx="53340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EECC9-031B-4961-9A47-F82C8374C7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923f572f942de"/>
          <a:srcRect xmlns:a="http://schemas.openxmlformats.org/drawingml/2006/main" l="21278" t="0" r="21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524250"/>
            <a:ext cx="26670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3F7CB-038F-4A71-9D64-AB8E45CC66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0d12625904ee3"/>
          <a:srcRect xmlns:a="http://schemas.openxmlformats.org/drawingml/2006/main" l="21278" t="0" r="21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3524250"/>
            <a:ext cx="2667000" cy="209550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93A0A-AE8B-4260-8FB0-87590B73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Evidence includes gameplay videos, contact sheets, browser captures, character loading checks, and automated regression tests.</a:t>
            </a:r>
          </a:p>
        </p:txBody>
      </p:sp>
    </p:spTree>
    <p:extLst>
      <p:ext uri="{BB962C8B-B14F-4D97-AF65-F5344CB8AC3E}">
        <p14:creationId xmlns:p14="http://schemas.microsoft.com/office/powerpoint/2010/main" val="14684464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9082E0-C13B-4F02-8C33-B8F97670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EE382-DE3D-4E70-B40F-90B7AAE6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975" b="1" i="0">
                <a:solidFill>
                  <a:srgbClr val="C9FF3D"/>
                </a:solidFill>
              </a:defRPr>
            </a:pPr>
            <a:r>
              <a:rPr sz="975" b="1" i="0">
                <a:solidFill>
                  <a:srgbClr val="C9FF3D"/>
                </a:solidFill>
              </a:rPr>
              <a:t>NEXT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0F25B-102E-4B57-B54C-981B2D6A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475" b="1" i="0">
                <a:solidFill>
                  <a:srgbClr val="F1EEE3"/>
                </a:solidFill>
              </a:defRPr>
            </a:pPr>
            <a:r>
              <a:rPr sz="2475" b="1" i="0">
                <a:solidFill>
                  <a:srgbClr val="F1EEE3"/>
                </a:solidFill>
              </a:rPr>
              <a:t>The next milestone is visual consistency under pressure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B68F5-54B7-4115-A111-714F6AEA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038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3AF18-8F8C-423B-8DC0-0C455082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71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1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1" i="0">
                <a:solidFill>
                  <a:srgbClr val="A8B1B5"/>
                </a:solidFill>
              </a:defRPr>
            </a:pPr>
            <a:r>
              <a:rPr sz="825" b="1" i="0">
                <a:solidFill>
                  <a:srgbClr val="A8B1B5"/>
                </a:solidFill>
              </a:rPr>
              <a:t>SHOWTIME / SUBWAY PERFORMER    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18D9C-495C-4A28-90B0-698FA47E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6D379-9594-41BB-A4E5-F91B5B4E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 i="0">
                <a:solidFill>
                  <a:srgbClr val="11171B"/>
                </a:solidFill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11171B"/>
                </a:solidFill>
              </a:defRPr>
            </a:pPr>
            <a:r>
              <a:rPr sz="975" b="1" i="0">
                <a:solidFill>
                  <a:srgbClr val="11171B"/>
                </a:solidFill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56A44-A720-41AA-88D1-12A257FD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6668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1EEE3"/>
                </a:solidFill>
              </a:defRPr>
            </a:pPr>
            <a:r>
              <a:rPr sz="1500" b="1" i="0">
                <a:solidFill>
                  <a:srgbClr val="F1EEE3"/>
                </a:solidFill>
              </a:rPr>
              <a:t>Stabilize local 3D game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44008-00F5-4A2F-B13C-CF94E98B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335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8B1B5"/>
                </a:solidFill>
              </a:defRPr>
            </a:pPr>
            <a:r>
              <a:rPr sz="1200" b="0" i="0">
                <a:solidFill>
                  <a:srgbClr val="A8B1B5"/>
                </a:solidFill>
              </a:rPr>
              <a:t>Responsive layout, character loading, camera framing, fast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CDDC1-E1CC-4F39-B96B-A55DFC92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857375"/>
            <a:ext cx="800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FF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E6164D-8C91-4AC3-81D6-29487BF3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05075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2BAF7-1FEB-43C2-959D-CD3889BA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384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 i="0">
                <a:solidFill>
                  <a:srgbClr val="11171B"/>
                </a:solidFill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11171B"/>
                </a:solidFill>
              </a:defRPr>
            </a:pPr>
            <a:r>
              <a:rPr sz="975" b="1" i="0">
                <a:solidFill>
                  <a:srgbClr val="11171B"/>
                </a:solidFill>
              </a:rPr>
              <a:t>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BC7F3-BCEF-4FE1-949B-224ED26D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336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1EEE3"/>
                </a:solidFill>
              </a:defRPr>
            </a:pPr>
            <a:r>
              <a:rPr sz="1500" b="1" i="0">
                <a:solidFill>
                  <a:srgbClr val="F1EEE3"/>
                </a:solidFill>
              </a:rPr>
              <a:t>Verify Reactor in a controlled scene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2236B-67FC-4E55-B3D7-4659FE9F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8B1B5"/>
                </a:solidFill>
              </a:defRPr>
            </a:pPr>
            <a:r>
              <a:rPr sz="1200" b="0" i="0">
                <a:solidFill>
                  <a:srgbClr val="A8B1B5"/>
                </a:solidFill>
              </a:rPr>
              <a:t>Token, SDK, source publishing, prompt acceptance, returned video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87D667-F23C-40E5-8FFB-036BD4F5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24150"/>
            <a:ext cx="800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A5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1DD383-7165-4AA0-B8A6-E26AAD1E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5D8EA0"/>
          </a:solidFill>
          <a:ln xmlns:a="http://schemas.openxmlformats.org/drawingml/2006/main" w="0">
            <a:solidFill>
              <a:srgbClr val="5D8EA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67896-2713-46CD-8EC8-09D07903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 i="0">
                <a:solidFill>
                  <a:srgbClr val="11171B"/>
                </a:solidFill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11171B"/>
                </a:solidFill>
              </a:defRPr>
            </a:pPr>
            <a:r>
              <a:rPr sz="975" b="1" i="0">
                <a:solidFill>
                  <a:srgbClr val="11171B"/>
                </a:solidFill>
              </a:rPr>
              <a:t>THEN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52A3C-A4D7-4071-9D72-641BA1E1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004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1EEE3"/>
                </a:solidFill>
              </a:defRPr>
            </a:pPr>
            <a:r>
              <a:rPr sz="1500" b="1" i="0">
                <a:solidFill>
                  <a:srgbClr val="F1EEE3"/>
                </a:solidFill>
              </a:rPr>
              <a:t>Add reference conditioning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7C2C3-DB8D-426A-A5D4-58299E1E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66712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8B1B5"/>
                </a:solidFill>
              </a:defRPr>
            </a:pPr>
            <a:r>
              <a:rPr sz="1200" b="0" i="0">
                <a:solidFill>
                  <a:srgbClr val="A8B1B5"/>
                </a:solidFill>
              </a:rPr>
              <a:t>One subway interior image before a session begins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A10FD-4069-4F33-A365-6158032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90925"/>
            <a:ext cx="800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D8EA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46084-21F8-4B09-B9C3-C20553B4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63838"/>
          </a:solidFill>
          <a:ln xmlns:a="http://schemas.openxmlformats.org/drawingml/2006/main" w="0">
            <a:solidFill>
              <a:srgbClr val="E638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70792-5DFB-4AEE-90B5-B7D0A7A4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719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 i="0">
                <a:solidFill>
                  <a:srgbClr val="11171B"/>
                </a:solidFill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11171B"/>
                </a:solidFill>
              </a:defRPr>
            </a:pPr>
            <a:r>
              <a:rPr sz="975" b="1" i="0">
                <a:solidFill>
                  <a:srgbClr val="11171B"/>
                </a:solidFill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843DA-6857-40A7-B048-5B8C544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672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1EEE3"/>
                </a:solidFill>
              </a:defRPr>
            </a:pPr>
            <a:r>
              <a:rPr sz="1500" b="1" i="0">
                <a:solidFill>
                  <a:srgbClr val="F1EEE3"/>
                </a:solidFill>
              </a:rPr>
              <a:t>Stress the risky 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BC0BB-6B95-4729-9586-7D590DA9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3390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8B1B5"/>
                </a:solidFill>
              </a:defRPr>
            </a:pPr>
            <a:r>
              <a:rPr sz="1200" b="0" i="0">
                <a:solidFill>
                  <a:srgbClr val="A8B1B5"/>
                </a:solidFill>
              </a:rPr>
              <a:t>Pole grip, flips, turbulence falls, dense crowds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C479B-9A8C-4237-894E-314FE157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57700"/>
            <a:ext cx="800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38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C3876-3DDA-4376-A07F-8B6B33C7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819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EEE3"/>
          </a:solidFill>
          <a:ln xmlns:a="http://schemas.openxmlformats.org/drawingml/2006/main" w="0">
            <a:solidFill>
              <a:srgbClr val="F1EE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F764F1-DB59-425D-909D-B23D9E1A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 i="0">
                <a:solidFill>
                  <a:srgbClr val="11171B"/>
                </a:solidFill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11171B"/>
                </a:solidFill>
              </a:defRPr>
            </a:pPr>
            <a:r>
              <a:rPr sz="975" b="1" i="0">
                <a:solidFill>
                  <a:srgbClr val="11171B"/>
                </a:solidFill>
              </a:rPr>
              <a:t>DELIVER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656255-10EA-45EE-BD02-972D98C8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339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1EEE3"/>
                </a:solidFill>
              </a:defRPr>
            </a:pPr>
            <a:r>
              <a:rPr sz="1500" b="1" i="0">
                <a:solidFill>
                  <a:srgbClr val="F1EEE3"/>
                </a:solidFill>
              </a:rPr>
              <a:t>Package the exhibition build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34E3E-751C-4ECE-88E0-3E9F6B0B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006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1200" b="0" i="0">
                <a:solidFill>
                  <a:srgbClr val="A8B1B5"/>
                </a:solidFill>
              </a:defRPr>
            </a:pPr>
            <a:r>
              <a:rPr sz="1200" b="0" i="0">
                <a:solidFill>
                  <a:srgbClr val="A8B1B5"/>
                </a:solidFill>
              </a:rPr>
              <a:t>Clean walkthrough, source, documentation, and MP4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B1E896-71F5-4D72-B53C-6B7DF888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24475"/>
            <a:ext cx="800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1EE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1817A-8FC9-4D29-863F-7D325CDF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825" b="0" i="1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825" b="0" i="1">
                <a:solidFill>
                  <a:srgbClr val="A8B1B5"/>
                </a:solidFill>
              </a:defRPr>
            </a:pPr>
            <a:r>
              <a:rPr sz="825" b="0" i="1">
                <a:solidFill>
                  <a:srgbClr val="A8B1B5"/>
                </a:solidFill>
              </a:rPr>
              <a:t>The exhibition version should show a reliable local game first, then make the Reactor pass visible as an enhancement rather than a dependency.</a:t>
            </a:r>
          </a:p>
        </p:txBody>
      </p:sp>
    </p:spTree>
    <p:extLst>
      <p:ext uri="{BB962C8B-B14F-4D97-AF65-F5344CB8AC3E}">
        <p14:creationId xmlns:p14="http://schemas.microsoft.com/office/powerpoint/2010/main" val="20586533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7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D853A-FD44-4FE7-894D-3D3C6A3C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504CE-026E-42B3-BC89-E8B08141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9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3900" b="1" i="0">
                <a:solidFill>
                  <a:srgbClr val="F1EEE3"/>
                </a:solidFill>
              </a:defRPr>
            </a:pPr>
            <a:r>
              <a:rPr sz="3900" b="1" i="0">
                <a:solidFill>
                  <a:srgbClr val="F1EEE3"/>
                </a:solidFill>
              </a:rPr>
              <a:t>SHOWTIME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81F2A-0B91-492D-B3CD-AAC5D684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C9FF3D"/>
                </a:solidFill>
              </a:defRPr>
            </a:pPr>
            <a:r>
              <a:rPr sz="2100" b="1" i="0">
                <a:solidFill>
                  <a:srgbClr val="C9FF3D"/>
                </a:solidFill>
              </a:rPr>
              <a:t>SUBWAY PERFORMER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1BA6B-CAC4-40AE-88B1-F1CB7AFC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1EEE3"/>
                </a:solidFill>
              </a:defRPr>
            </a:pPr>
            <a:r>
              <a:rPr sz="2100" b="1" i="0">
                <a:solidFill>
                  <a:srgbClr val="F1EEE3"/>
                </a:solidFill>
              </a:rPr>
              <a:t>An exhibition-ready prototype about movement, attention, and shared space.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56322-9991-414F-B6E6-D74C5139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1" i="0">
                <a:solidFill>
                  <a:srgbClr val="F0A51A"/>
                </a:solidFill>
              </a:defRPr>
            </a:defPPr>
          </a:lstStyle>
          <a:p xmlns:a="http://schemas.openxmlformats.org/drawingml/2006/main">
            <a:pPr algn="l">
              <a:defRPr sz="1050" b="1" i="0">
                <a:solidFill>
                  <a:srgbClr val="F0A51A"/>
                </a:solidFill>
              </a:defRPr>
            </a:pPr>
            <a:r>
              <a:rPr sz="1050" b="1" i="0">
                <a:solidFill>
                  <a:srgbClr val="F0A51A"/>
                </a:solidFill>
              </a:rPr>
              <a:t>DELIVERY PACKAGE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6F439-8948-4FEC-83A0-99F5F2A8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FF3D"/>
          </a:solidFill>
          <a:ln xmlns:a="http://schemas.openxmlformats.org/drawingml/2006/main" w="0">
            <a:solidFill>
              <a:srgbClr val="C9FF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0CDF2-2C9D-4DB3-82CB-918D1C51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Playable Vite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BEFA9-3D5D-4464-A823-FC52C04C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DC184-C365-4DC1-856F-CA7CD368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Meshy GLB character cast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BC6FE-6940-4EFF-AA37-A568ED96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25CF5-B305-4E10-8675-D036E8D3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Figma-derived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DB073-E44B-4209-9ADC-6D0545B3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3A67C-C40B-4A22-9D84-758821A3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Automated gameplay tests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73B4C-8B2B-4352-9718-4D5FE38A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DF212-53E6-41FF-AFEE-C2A15EE8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Walkthrough videos and screenshots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F50BE-ACDD-4A10-A52F-039FB73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A"/>
          </a:solidFill>
          <a:ln xmlns:a="http://schemas.openxmlformats.org/drawingml/2006/main" w="0">
            <a:solidFill>
              <a:srgbClr val="F0A5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6F6C53-0A2D-49FE-8559-F0278BAE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74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 i="0">
                <a:solidFill>
                  <a:srgbClr val="F1EEE3"/>
                </a:solidFill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F1EEE3"/>
                </a:solidFill>
              </a:defRPr>
            </a:pPr>
            <a:r>
              <a:rPr sz="1350" b="0" i="0">
                <a:solidFill>
                  <a:srgbClr val="F1EEE3"/>
                </a:solidFill>
              </a:rPr>
              <a:t>Living project documentation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33F89-6B24-4E61-9F0E-26D7A064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066800"/>
            <a:ext cx="4095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30383D"/>
          </a:solidFill>
          <a:ln xmlns:a="http://schemas.openxmlformats.org/drawingml/2006/main" w="0">
            <a:solidFill>
              <a:srgbClr val="30383D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C7BA1-AF08-4608-AC60-82E2D8CFB6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9cfe372044676"/>
          <a:srcRect xmlns:a="http://schemas.openxmlformats.org/drawingml/2006/main" l="0" t="3099" r="0" b="3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19950" y="1219200"/>
            <a:ext cx="3790950" cy="26670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F0DC0-0153-4A11-9FAB-7032BD95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719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 i="0">
                <a:solidFill>
                  <a:srgbClr val="C9FF3D"/>
                </a:solidFill>
              </a:defRPr>
            </a:defPPr>
          </a:lstStyle>
          <a:p xmlns:a="http://schemas.openxmlformats.org/drawingml/2006/main">
            <a:pPr algn="ctr">
              <a:defRPr sz="1500" b="1" i="0">
                <a:solidFill>
                  <a:srgbClr val="C9FF3D"/>
                </a:solidFill>
              </a:defRPr>
            </a:pPr>
            <a:r>
              <a:rPr sz="1500" b="1" i="0">
                <a:solidFill>
                  <a:srgbClr val="C9FF3D"/>
                </a:solidFill>
              </a:rPr>
              <a:t>BUILD THE WORLD FIRST.</a:t>
            </a:r>
          </a:p>
          <a:p xmlns:a="http://schemas.openxmlformats.org/drawingml/2006/main">
            <a:pPr algn="ctr">
              <a:defRPr sz="1500" b="1" i="0">
                <a:solidFill>
                  <a:srgbClr val="C9FF3D"/>
                </a:solidFill>
              </a:defRPr>
            </a:pPr>
            <a:r>
              <a:rPr sz="1500" b="1" i="0">
                <a:solidFill>
                  <a:srgbClr val="C9FF3D"/>
                </a:solidFill>
              </a:rPr>
              <a:t>THEN LET THE VISUAL LAYER PUSH IT FURTHER.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0FD1F-DD0A-44B2-9434-FD6B2E89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0" i="0">
                <a:solidFill>
                  <a:srgbClr val="A8B1B5"/>
                </a:solidFill>
              </a:defRPr>
            </a:defPPr>
          </a:lstStyle>
          <a:p xmlns:a="http://schemas.openxmlformats.org/drawingml/2006/main">
            <a:pPr algn="l">
              <a:defRPr sz="900" b="0" i="0">
                <a:solidFill>
                  <a:srgbClr val="A8B1B5"/>
                </a:solidFill>
              </a:defRPr>
            </a:pPr>
            <a:r>
              <a:rPr sz="900" b="0" i="0">
                <a:solidFill>
                  <a:srgbClr val="A8B1B5"/>
                </a:solidFill>
              </a:rPr>
              <a:t>Version 2 process documentation / 2026</a:t>
            </a:r>
          </a:p>
        </p:txBody>
      </p:sp>
    </p:spTree>
    <p:extLst>
      <p:ext uri="{BB962C8B-B14F-4D97-AF65-F5344CB8AC3E}">
        <p14:creationId xmlns:p14="http://schemas.microsoft.com/office/powerpoint/2010/main" val="1405874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2026-10-12T10:49:19.6450000Z</dcterms:created>
  <dcterms:modified xsi:type="dcterms:W3CDTF">2026-10-12T10:49:19.6450000Z</dcterms:modified>
</coreProperties>
</file>